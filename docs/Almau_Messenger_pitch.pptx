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Продукт и зачем он нужен" id="{52520428-c763-cc8a-ee28-588daa57d1f9}">
          <p14:sldIdLst>
            <p14:sldId id="256"/>
            <p14:sldId id="257"/>
            <p14:sldId id="258"/>
          </p14:sldIdLst>
        </p14:section>
        <p14:section name="Продукт вживую и польза клубу" id="{6850f9f5-bcf4-f97a-4a80-7ae891a9e5b8}">
          <p14:sldIdLst>
            <p14:sldId id="259"/>
            <p14:sldId id="260"/>
            <p14:sldId id="261"/>
          </p14:sldIdLst>
        </p14:section>
        <p14:section name="Как зарабатываем, кто мы и что дальше" id="{fe702587-b856-50f5-2af8-d934841c5b99}">
          <p14:sldIdLst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ДИЯР, 0:00–0:15. Здравствуйте! Мы команда Almau Messenger: Дияр, Абулхаир и Хамид. Мы сделали анонимный Telegram-чат для студентов, который приводит людей на настоящие встречи клубов. Сейчас расскажем зачем, покажем вживую и объясним, как это зарабатывает.
ТАЙМИНГ ПИТЧА (всего 4:40 из 5:00, запас 20 секунд: за каждые 30 секунд сверх лимита минус 2 балла):
1. Обложка, Дияр, 0:15
2. Проблема, Дияр, 0:30
3. Решение, Дияр, 0:35
4. Продукт вживую, Хамид, 1:05
5. Как устроено, Абулхаир, 0:35
6. Клубы и партнёр, Хамид, 0:30
7. Бизнес-модель, Абулхаир, 0:25
8. Команда, все трое, 0:20
9. Что дальше, Абулхаир, 0:25
Вопросы и ответы: 2 минуты, отвечает тот, чья часть спрашивается.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ДИЯР, 0:30. Начнём с двух проблем, которые связаны между собой.
Первая у студентов: написать первым страшно. На первом курсе почти никого не знаешь, а идти на мероприятие одному неловко, поэтому многие просто остаются дома.
Вторая у студенческих клубов: людей трудно собрать и удержать. Запись идёт в чатах и таблицах, записавшиеся не приходят, потому что некому напомнить, а в походах и на выездах никто не контролирует безопасность.
Переход: «Мы решаем обе проблемы одним продуктом».
ВАЖНО: мы не называем цифр, которых нет. Если спросят «откуда это известно», честный ответ: это наблюдения из студенческой среды и разговоры с клубом Summit Seekers, а не исследование рынка.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ДИЯР, 0:35. Наше решение: Telegram-бот и сайт, которые работают вместе.
Первое: анонимный чат. Студент нажимает одну кнопку и попадает в разговор с новым человеком. Имя и @username собеседник не видит. Бот сначала ищет человека с общими интересами, и это даёт первую тему для разговора. Захочешь познакомиться ближе, сам решаешь, показать ли вуз и курс или отправить соцсети.
Второе: компания на ивент. Отмечаешь «Иду» на мероприятии и можешь анонимно пообщаться с тем, кто идёт туда же. Здесь бот связывает онлайн с реальной жизнью.
Третье: инструменты для клубов. Об этом расскажет Хамид, и он же сейчас покажет продукт вживую.
Передача слова: «Хамид, покажи, как это работает».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ХАМИД, 1:05. ЖИВОЙ ПОКАЗ ПО ССЫЛКЕ, НЕ СКРИНШОТЫ (по условиям контрольной). Скриншоты на слайде нужны только как запасной вариант.
СЦЕНАРИЙ (65 секунд):
1. Телефон 1, бот: нажать /start, выбрать вуз, курс и интересы (интересы: 2 нажатия), нажать «Найти собеседника». (15 с)
2. Телефон 2 (второй аккаунт Telegram): тоже «Найти собеседника». Бот пишет «Собеседник найден» и показывает общие интересы. Отправить сообщение с одного телефона, оно приходит на другой без имени. (20 с)
3. Сайт на ноутбуке: вкладка «Ивенты», нажать «Найти компанию» у ивента. Telegram открывается сразу на карточке ивента. Нажать «Иду». (20 с)
4. Сказать: «Анонимность не мешает знакомству: если захотите, нажимаете «Раскрыть вуз и курс» или /give». (10 с)
ПОДГОТОВКА (за 10 минут до выступления):
- Два телефона с двумя разными аккаунтами Telegram, оба уже писали боту /start, оба с мобильным интернетом.
- Ноутбук открыт на сайте, вкладка «Ивенты», Wi-Fi и мобильный интернет резервные.
- ПРОВЕРИТЬ ССЫЛКУ НА САЙТ: на слайде указан almau-messenger.vercel.app (он же указан как домашняя страница репозитория на GitHub). Откройте его в приватной вкладке: если не открывается, поправьте адрес на слайде.
- Взять число пользователей из команды /stats (для слайда 7).
Если интернет пропал: показать скриншоты на слайде и сказать, что продукт работает по этим ссылкам; QR слева ведёт на бота.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АБУЛХАИР, 0:35. Коротко про техническую часть: это не макет, у нас настоящий бэкенд.
Студент пишет боту в Telegram. Бот на Python хранит данные в базе: профили, жалобы, записи на ивенты и походы. Тот же слой данных отдаёт информацию сайту через веб-API: с сайта можно отметить «Иду» и оставить заявку, и это сохраняется на сервере.
Хостинг: бот и API работают на Railway, сайт на Vercel. Всё доступно по ссылкам, без нашего ноутбука.
Качество: 68 автотестов, в том числе тест, который запускает бота целиком и проверяет, что он отвечает на /start.
ЕСЛИ СПРОСЯТ:
- «Что будет с данными при перезапуске?» Сейчас база лежит в контейнере Railway и при новом деплое сбрасывается. Для продакшена подключаем постоянный диск (Volume) и меняем одну переменную DB_PATH. Это уже описано в README.
- «Почему SQLite?» Для первых сотен пользователей хватает, ставить отдельный сервер не нужно. Переход на PostgreSQL возможен без смены логики бота.
- «Как защищены данные?» Анонимный чат не раскрывает имя и @username. Имя и телефон на запись в поход видит только организатор, при отмене записи они удаляются сразу, а через 30 дней после похода удаляются автоматически.
- «Что если Telegram недоступен?» Сайт продолжает работать, бот в это время не отвечает.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ХАМИД, 0:30. Самое важное для инвестора: у нас уже есть платящий клиент. 12 октября в 22:22 мы отправили горному клубу Summit Seekers коммерческое предложение, а в 22:37 пришла оплата 20 000 тенге. От предложения до денег прошло 15 минут. Клуб стал нашим первым клиентом и партнёром.
Что получает клуб: запись на походы с лимитом мест и листом ожидания; напоминания за сутки и за три часа, чтобы больше людей приходило; рассылки организатора прямо из бота; безопасность: после похода участник нажимает «Я спустился», и организатор видит, кто не отметился, плюс кнопка SOS; отчёт, который показывает, из Instagram, с сайта или из Telegram пришло больше людей.
Показать в боте, если останется время: команда /club (панель организатора), страница «Summit Seekers» на сайте.
ЕСЛИ СПРОСЯТ:
- «Что именно купил клуб?» Подключение к Almau Messenger и инструменты для организатора: запись, напоминания, рассылки, безопасность, отчёт. Это первая оплата. Подписку для клубов мы вводим следующим шагом, и честно говорим, что пока оплата была одна.
- «Это повторяется?» Пока один клиент. Мы проверяем, что ценность повторяется у других клубов, которым нужны запись и безопасность.
- «Что клуб думает о продукте?» Отвечайте только то, что действительно слышали от организаторов.
- «Это безопасно?» SOS не заменяет службы спасения: бот просит позвонить на 112 и передаёт сигнал организаторам.
ЧЕК И ПЕРЕПИСКУ показывать на экране не нужно: в них имена и телефоны. Если попросят доказать оплату, покажите чек отдельно, после защиты.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АБУЛХАИР, 0:25. Как мы зарабатываем: студентам бесплатно, платят клубы и организаторы. Им мы продаём время и результат: меньше ручной работы, больше людей на мероприятии, контроль безопасности.
Первые шаги: первая выручка 20 000 тенге от Summit Seekers уже получена. В каталоге бота и сайта 10 клубов AlmaU.
ПЕРЕД ВЫСТУПЛЕНИЕМ ЗАМЕНИТЕ [N] на реальное число студентов в боте: админ отправляет боту команду /stats и берёт строку «Пользователей». Не называйте цифру, которой нет.
Если спросят, за что именно заплатил клуб: за подключение к Almau Messenger и инструменты организатора. Честно скажите, что это первая оплата, а подписку для клубов мы вводим следующим шагом.
ЕСЛИ СПРОСЯТ:
- «Сколько клубов реально заплатят?» Честный ответ: пока один, и мы проверяем, что ценность повторяется у других клубов, которым нужны запись и безопасность.
- «Почему не Google Forms и чат?» Они не напоминают, не собирают лист ожидания, не показывают, кто не вернулся из похода, и не приводят студентов, которые ищут компанию.
- «Конкуренты?» Анонимные чаты есть, но они не привязаны к студенческим мероприятиям и не помогают клубам.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ВСЕ ТРОЕ, 0:20 (по 6–7 секунд, каждый говорит о своей части).
Дияр: «Я отвечаю за ядро бота: анонимный чат и подбор собеседника по интересам».
Абулхаир: «Я отвечаю за бэкенд: базу данных, профили и модерацию, чтобы чат оставался безопасным».
Хамид: «Я отвечаю за ивенты, клубы и сайт, то есть за связь бота с реальными встречами».
К ЗАЩИТЕ: каждый должен уметь открыть свои файлы и объяснить их своими словами (кто за что отвечает: docs/TEAM.md в репозитории). Преподаватель может дать маленькое задание на изменение своей части прямо во время защиты.
Репозиторий: github.com/taekeanoshi/Almau_messanger, у каждого участника должны быть свои коммиты (список в docs/TEAM.md, раздел 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АБУЛХАИР, 0:25. Дальше мы хотим не останавливаться на одном вузе. Сейчас это AlmaU и первый клиент, клуб Summit Seekers, который уже заплатил. Следующий шаг: подключить другие клубы и вузы Алматы. Затем подписка для клубов и оплата прямо в боте.
Нам нужны инвестиции и пилоты в других вузах, чтобы это сделать. Бота можно открыть прямо сейчас по QR-коду. Спасибо! Готовы к вопросам.
ПЕРЕД ВЫСТУПЛЕНИЕМ: замените [сумма] на реальную сумму, которую вы просите, и подготовьте ответ, на что именно пойдут деньги (например: хостинг и база данных на постоянном диске, привлечение клубов, платёжный модуль). Если суммы нет, уберите это слово и оставьте «Ищем пилоты в других вузах».
ВОПРОСЫ И ОТВЕТЫ (2 минуты). Заготовки:
- «Почему студенты будут этим пользоваться?» Потому что это бесплатно, не нужно ничего скачивать (всё в Telegram) и не нужно открывать себя.
- «Как вы защищаетесь от оскорблений и спама?» Кнопка «Пожаловаться» завершает диалог, жалобы приходят админам, после нескольких жалоб от разных людей нарушитель блокируется автоматически.
- «Что мешает конкурентам повторить?» Привязка к реальным клубам и мероприятиям, инструменты для организаторов и первый платящий клиент. Это про отношения с клубами, а не про одну функцию.
- «Что будет, если Telegram заблокируют или изменят правила?» Сайт и API независимы от бота и продолжают работать; логика не привязана к Telegram жёстко.
- «Какая у вас метрика успеха?» Число записей на мероприятия через бота и доля записавшихся, которые пришли. Для этого у нас уже есть отчёт для клубов.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OVER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2810" y="698510"/>
            <a:ext cx="10566166" cy="69851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812810" y="6324448"/>
            <a:ext cx="57148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Almau Messenger · питч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474007" y="6324448"/>
            <a:ext cx="190497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2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2810" y="698510"/>
            <a:ext cx="10566166" cy="69851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812810" y="6324448"/>
            <a:ext cx="57148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Almau Messenger · питч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474007" y="6324448"/>
            <a:ext cx="190497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ME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2810" y="698510"/>
            <a:ext cx="10566166" cy="69851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812810" y="6324448"/>
            <a:ext cx="57148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Almau Messenger · питч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474007" y="6324448"/>
            <a:ext cx="190497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474007" y="6324448"/>
            <a:ext cx="190497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hyperlink" Target="https://t.me/Almau_mes_bot" TargetMode="External"/><Relationship Id="rId5" Type="http://schemas.openxmlformats.org/officeDocument/2006/relationships/hyperlink" Target="https://almau-messenger.vercel.app" TargetMode="External"/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image" Target="../media/image-4-3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t.me/Almau_mes_bot" TargetMode="Externa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Метка"/>
          <p:cNvSpPr txBox="1"/>
          <p:nvPr/>
        </p:nvSpPr>
        <p:spPr>
          <a:xfrm>
            <a:off x="812810" y="812810"/>
            <a:ext cx="5714817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ПИТЧ ДЛЯ ИНВЕСТОРОВ</a:t>
            </a:r>
            <a:endParaRPr lang="en-US" sz="1300" dirty="0"/>
          </a:p>
        </p:txBody>
      </p:sp>
      <p:sp>
        <p:nvSpPr>
          <p:cNvPr id="4" name="Название"/>
          <p:cNvSpPr txBox="1"/>
          <p:nvPr/>
        </p:nvSpPr>
        <p:spPr>
          <a:xfrm>
            <a:off x="812810" y="1650949"/>
            <a:ext cx="6349868" cy="1841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6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Almau</a:t>
            </a:r>
            <a:endParaRPr lang="en-US" sz="66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Messenger</a:t>
            </a:r>
            <a:endParaRPr lang="en-US" sz="6600" dirty="0"/>
          </a:p>
        </p:txBody>
      </p:sp>
      <p:sp>
        <p:nvSpPr>
          <p:cNvPr id="5" name="Подзаголовок"/>
          <p:cNvSpPr txBox="1"/>
          <p:nvPr/>
        </p:nvSpPr>
        <p:spPr>
          <a:xfrm>
            <a:off x="812810" y="3809939"/>
            <a:ext cx="63498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accent6"/>
                </a:solidFill>
              </a:rPr>
              <a:t>Анонимный чат студентов, который приводит их на реальные встречи</a:t>
            </a:r>
            <a:endParaRPr lang="en-US" sz="2400" dirty="0"/>
          </a:p>
        </p:txBody>
      </p:sp>
      <p:sp>
        <p:nvSpPr>
          <p:cNvPr id="6" name="Команда"/>
          <p:cNvSpPr txBox="1"/>
          <p:nvPr/>
        </p:nvSpPr>
        <p:spPr>
          <a:xfrm>
            <a:off x="812810" y="5714817"/>
            <a:ext cx="5714817" cy="31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Дияр · Абулхаир · Хамид</a:t>
            </a:r>
            <a:endParaRPr lang="en-US" sz="1800" dirty="0"/>
          </a:p>
        </p:txBody>
      </p:sp>
      <p:pic>
        <p:nvPicPr>
          <p:cNvPr id="7" name="Логотип" descr="Логотип Almau Messenger: два диалоговых облачк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2776" y="1523939"/>
            <a:ext cx="3174888" cy="3174888"/>
          </a:xfrm>
          <a:prstGeom prst="ellipse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12810" y="698510"/>
            <a:ext cx="10566166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Проблема</a:t>
            </a:r>
            <a:endParaRPr lang="en-US" sz="3600" dirty="0"/>
          </a:p>
        </p:txBody>
      </p:sp>
      <p:sp>
        <p:nvSpPr>
          <p:cNvPr id="4" name="Карточка: студентам"/>
          <p:cNvSpPr txBox="1"/>
          <p:nvPr/>
        </p:nvSpPr>
        <p:spPr>
          <a:xfrm>
            <a:off x="812810" y="1676370"/>
            <a:ext cx="5156027" cy="2984419"/>
          </a:xfrm>
          <a:prstGeom prst="roundRect">
            <a:avLst>
              <a:gd name="adj" fmla="val 6741"/>
            </a:avLst>
          </a:prstGeom>
          <a:solidFill>
            <a:schemeClr val="accent3"/>
          </a:solidFill>
          <a:ln w="12700">
            <a:solidFill>
              <a:schemeClr val="accent4"/>
            </a:solidFill>
          </a:ln>
        </p:spPr>
        <p:txBody>
          <a:bodyPr wrap="square" lIns="330200" tIns="330200" rIns="330200" bIns="25400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b="1" spc="300" kern="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СТУДЕНТАМ</a:t>
            </a:r>
            <a:endParaRPr lang="en-US" sz="13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200" b="1" dirty="0">
                <a:solidFill>
                  <a:schemeClr val="bg1"/>
                </a:solidFill>
              </a:rPr>
              <a:t>Написать первым страшно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accent6"/>
                </a:solidFill>
              </a:rPr>
              <a:t>Студенты разных курсов и вузов друг друга не знают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accent6"/>
                </a:solidFill>
              </a:rPr>
              <a:t>Идти на мероприятие одному неловко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accent6"/>
                </a:solidFill>
              </a:rPr>
              <a:t>Страх осуждения мешает знакомиться</a:t>
            </a:r>
            <a:endParaRPr lang="en-US" sz="1300" dirty="0"/>
          </a:p>
        </p:txBody>
      </p:sp>
      <p:sp>
        <p:nvSpPr>
          <p:cNvPr id="5" name="Карточка: клубам"/>
          <p:cNvSpPr txBox="1"/>
          <p:nvPr/>
        </p:nvSpPr>
        <p:spPr>
          <a:xfrm>
            <a:off x="6222858" y="1676370"/>
            <a:ext cx="5156027" cy="2984419"/>
          </a:xfrm>
          <a:prstGeom prst="roundRect">
            <a:avLst>
              <a:gd name="adj" fmla="val 6741"/>
            </a:avLst>
          </a:prstGeom>
          <a:solidFill>
            <a:schemeClr val="accent3"/>
          </a:solidFill>
          <a:ln w="12700">
            <a:solidFill>
              <a:schemeClr val="accent4"/>
            </a:solidFill>
          </a:ln>
        </p:spPr>
        <p:txBody>
          <a:bodyPr wrap="square" lIns="330200" tIns="330200" rIns="330200" bIns="25400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b="1" spc="300" kern="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КЛУБАМ</a:t>
            </a:r>
            <a:endParaRPr lang="en-US" sz="13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200" b="1" dirty="0">
                <a:solidFill>
                  <a:schemeClr val="bg1"/>
                </a:solidFill>
              </a:rPr>
              <a:t>Людей трудно собрать и удержать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accent6"/>
                </a:solidFill>
              </a:rPr>
              <a:t>Запись идёт в чатах и таблицах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accent6"/>
                </a:solidFill>
              </a:rPr>
              <a:t>Записались, но не пришли: напоминать некому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accent6"/>
                </a:solidFill>
              </a:rPr>
              <a:t>В походах и на выездах нет контроля безопасности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474007" y="6324448"/>
            <a:ext cx="190497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42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0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3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12810" y="698510"/>
            <a:ext cx="10566166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Решение</a:t>
            </a:r>
            <a:endParaRPr lang="en-US" sz="3600" dirty="0"/>
          </a:p>
        </p:txBody>
      </p:sp>
      <p:sp>
        <p:nvSpPr>
          <p:cNvPr id="4" name="Карточка 1"/>
          <p:cNvSpPr txBox="1"/>
          <p:nvPr/>
        </p:nvSpPr>
        <p:spPr>
          <a:xfrm>
            <a:off x="812810" y="1676370"/>
            <a:ext cx="3352739" cy="3555919"/>
          </a:xfrm>
          <a:prstGeom prst="roundRect">
            <a:avLst>
              <a:gd name="adj" fmla="val 6000"/>
            </a:avLst>
          </a:prstGeom>
          <a:solidFill>
            <a:schemeClr val="accent5"/>
          </a:solidFill>
          <a:ln w="12700">
            <a:solidFill>
              <a:schemeClr val="accent4"/>
            </a:solidFill>
          </a:ln>
        </p:spPr>
        <p:txBody>
          <a:bodyPr wrap="square" lIns="304800" tIns="304800" rIns="304800" bIns="25400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3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3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bg1"/>
                </a:solidFill>
              </a:rPr>
              <a:t>Анонимный чат</a:t>
            </a:r>
            <a:endParaRPr lang="en-US" sz="36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Одна кнопка, и вы общаетесь с новым студентом. Имя и @username скрыты. Подбор по общим интересам.</a:t>
            </a:r>
            <a:endParaRPr lang="en-US" sz="3600" dirty="0"/>
          </a:p>
        </p:txBody>
      </p:sp>
      <p:sp>
        <p:nvSpPr>
          <p:cNvPr id="5" name="Карточка 2"/>
          <p:cNvSpPr txBox="1"/>
          <p:nvPr/>
        </p:nvSpPr>
        <p:spPr>
          <a:xfrm>
            <a:off x="4419478" y="1676370"/>
            <a:ext cx="3352739" cy="3555919"/>
          </a:xfrm>
          <a:prstGeom prst="roundRect">
            <a:avLst>
              <a:gd name="adj" fmla="val 6000"/>
            </a:avLst>
          </a:prstGeom>
          <a:solidFill>
            <a:schemeClr val="accent5"/>
          </a:solidFill>
          <a:ln w="12700">
            <a:solidFill>
              <a:schemeClr val="accent4"/>
            </a:solidFill>
          </a:ln>
        </p:spPr>
        <p:txBody>
          <a:bodyPr wrap="square" lIns="304800" tIns="304800" rIns="304800" bIns="25400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3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3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bg1"/>
                </a:solidFill>
              </a:rPr>
              <a:t>Компания на ивент</a:t>
            </a:r>
            <a:endParaRPr lang="en-US" sz="36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Отметь «Иду» на мероприятии и пообщайся с тем, кто идёт туда же. Идти одному больше не нужно.</a:t>
            </a:r>
            <a:endParaRPr lang="en-US" sz="3600" dirty="0"/>
          </a:p>
        </p:txBody>
      </p:sp>
      <p:sp>
        <p:nvSpPr>
          <p:cNvPr id="6" name="Карточка 3"/>
          <p:cNvSpPr txBox="1"/>
          <p:nvPr/>
        </p:nvSpPr>
        <p:spPr>
          <a:xfrm>
            <a:off x="8026237" y="1676370"/>
            <a:ext cx="3352739" cy="3555919"/>
          </a:xfrm>
          <a:prstGeom prst="roundRect">
            <a:avLst>
              <a:gd name="adj" fmla="val 6000"/>
            </a:avLst>
          </a:prstGeom>
          <a:solidFill>
            <a:schemeClr val="accent5"/>
          </a:solidFill>
          <a:ln w="12700">
            <a:solidFill>
              <a:schemeClr val="accent4"/>
            </a:solidFill>
          </a:ln>
        </p:spPr>
        <p:txBody>
          <a:bodyPr wrap="square" lIns="304800" tIns="304800" rIns="304800" bIns="25400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3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3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bg1"/>
                </a:solidFill>
              </a:rPr>
              <a:t>Инструменты для клубов</a:t>
            </a:r>
            <a:endParaRPr lang="en-US" sz="36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Запись с листом ожидания, напоминания, рассылки, безопасность в походах и отчёт.</a:t>
            </a: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474007" y="6324448"/>
            <a:ext cx="190497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42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4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5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42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8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9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12810" y="698510"/>
            <a:ext cx="10566166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Живой продукт</a:t>
            </a:r>
            <a:endParaRPr lang="en-US" sz="3600" dirty="0"/>
          </a:p>
        </p:txBody>
      </p:sp>
      <p:pic>
        <p:nvPicPr>
          <p:cNvPr id="4" name="Скриншот: главная" descr="Главная страница сайта: «Пиши первым. Никто не узнает, кто ты» и пример анонимного диалог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810" y="1676370"/>
            <a:ext cx="5079858" cy="2857409"/>
          </a:xfrm>
          <a:prstGeom prst="rect">
            <a:avLst/>
          </a:prstGeom>
        </p:spPr>
      </p:pic>
      <p:pic>
        <p:nvPicPr>
          <p:cNvPr id="5" name="Скриншот: ивенты" descr="Страница ивентов: карточки мероприятий с кнопкой «Найти компанию»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017" y="1676370"/>
            <a:ext cx="5079858" cy="2857409"/>
          </a:xfrm>
          <a:prstGeom prst="rect">
            <a:avLst/>
          </a:prstGeom>
        </p:spPr>
      </p:pic>
      <p:pic>
        <p:nvPicPr>
          <p:cNvPr id="6" name="QR-код" descr="QR-код для открытия бота в Telegram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10" y="4813219"/>
            <a:ext cx="1015990" cy="1015990"/>
          </a:xfrm>
          <a:prstGeom prst="rect">
            <a:avLst/>
          </a:prstGeom>
        </p:spPr>
      </p:pic>
      <p:sp>
        <p:nvSpPr>
          <p:cNvPr id="7" name="Ссылки"/>
          <p:cNvSpPr txBox="1"/>
          <p:nvPr/>
        </p:nvSpPr>
        <p:spPr>
          <a:xfrm>
            <a:off x="2133570" y="4889388"/>
            <a:ext cx="4825837" cy="825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Бот: </a:t>
            </a:r>
            <a:pPr indent="0" marL="0">
              <a:spcAft>
                <a:spcPts val="800"/>
              </a:spcAft>
              <a:buNone/>
            </a:pPr>
            <a:r>
              <a:rPr lang="en-US" sz="1600" b="1" u="sng" dirty="0">
                <a:solidFill>
                  <a:schemeClr val="accent1"/>
                </a:solidFill>
                <a:hlinkClick r:id="rId4" invalidUrl="" action="" tgtFrame="" tooltip="Открыть бота в Telegram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t.me/Almau_mes_bot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Сайт: </a:t>
            </a:r>
            <a:pPr indent="0" marL="0">
              <a:spcAft>
                <a:spcPts val="800"/>
              </a:spcAft>
              <a:buNone/>
            </a:pPr>
            <a:r>
              <a:rPr lang="en-US" sz="1600" b="1" u="sng" dirty="0">
                <a:solidFill>
                  <a:schemeClr val="accent1"/>
                </a:solidFill>
                <a:hlinkClick r:id="rId5" invalidUrl="" action="" tgtFrame="" tooltip="Открыть сайт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almau-messenger.vercel.app</a:t>
            </a:r>
            <a:endParaRPr lang="en-US" sz="1600" dirty="0"/>
          </a:p>
        </p:txBody>
      </p:sp>
      <p:sp>
        <p:nvSpPr>
          <p:cNvPr id="8" name="Что покажем"/>
          <p:cNvSpPr txBox="1"/>
          <p:nvPr/>
        </p:nvSpPr>
        <p:spPr>
          <a:xfrm>
            <a:off x="7264176" y="4889388"/>
            <a:ext cx="3936858" cy="825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Анкета, поиск по интересам, «Найти компанию» на ивент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474007" y="6324448"/>
            <a:ext cx="190497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4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6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53" presetClass="entr" presetSubtype="16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0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1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8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10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0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12810" y="698510"/>
            <a:ext cx="10566166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Как это устроено</a:t>
            </a:r>
            <a:endParaRPr lang="en-US" sz="3600" dirty="0"/>
          </a:p>
        </p:txBody>
      </p:sp>
      <p:sp>
        <p:nvSpPr>
          <p:cNvPr id="4" name="Узел: Telegram"/>
          <p:cNvSpPr txBox="1"/>
          <p:nvPr/>
        </p:nvSpPr>
        <p:spPr>
          <a:xfrm>
            <a:off x="812810" y="1676370"/>
            <a:ext cx="1549359" cy="952439"/>
          </a:xfrm>
          <a:prstGeom prst="roundRect">
            <a:avLst>
              <a:gd name="adj" fmla="val 21121"/>
            </a:avLst>
          </a:prstGeom>
          <a:solidFill>
            <a:schemeClr val="accent5"/>
          </a:solidFill>
          <a:ln w="12700">
            <a:solidFill>
              <a:schemeClr val="accent4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Telegram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студент</a:t>
            </a:r>
            <a:endParaRPr lang="en-US" sz="1600" dirty="0"/>
          </a:p>
        </p:txBody>
      </p:sp>
      <p:sp>
        <p:nvSpPr>
          <p:cNvPr id="5" name="Узел: Бот"/>
          <p:cNvSpPr txBox="1"/>
          <p:nvPr/>
        </p:nvSpPr>
        <p:spPr>
          <a:xfrm>
            <a:off x="3022549" y="1676370"/>
            <a:ext cx="1549359" cy="952439"/>
          </a:xfrm>
          <a:prstGeom prst="roundRect">
            <a:avLst>
              <a:gd name="adj" fmla="val 21121"/>
            </a:avLst>
          </a:prstGeom>
          <a:solidFill>
            <a:schemeClr val="accent5"/>
          </a:solidFill>
          <a:ln w="12700">
            <a:solidFill>
              <a:schemeClr val="accent4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Бот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Python, aiogram</a:t>
            </a:r>
            <a:endParaRPr lang="en-US" sz="1600" dirty="0"/>
          </a:p>
        </p:txBody>
      </p:sp>
      <p:sp>
        <p:nvSpPr>
          <p:cNvPr id="6" name="Узел: База данных"/>
          <p:cNvSpPr txBox="1"/>
          <p:nvPr/>
        </p:nvSpPr>
        <p:spPr>
          <a:xfrm>
            <a:off x="5232288" y="1676370"/>
            <a:ext cx="1549359" cy="952439"/>
          </a:xfrm>
          <a:prstGeom prst="roundRect">
            <a:avLst>
              <a:gd name="adj" fmla="val 21121"/>
            </a:avLst>
          </a:prstGeom>
          <a:solidFill>
            <a:schemeClr val="accent5"/>
          </a:solidFill>
          <a:ln w="25400">
            <a:solidFill>
              <a:schemeClr val="accent1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База данных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SQLite</a:t>
            </a:r>
            <a:endParaRPr lang="en-US" sz="1600" dirty="0"/>
          </a:p>
        </p:txBody>
      </p:sp>
      <p:sp>
        <p:nvSpPr>
          <p:cNvPr id="7" name="Узел: API"/>
          <p:cNvSpPr txBox="1"/>
          <p:nvPr/>
        </p:nvSpPr>
        <p:spPr>
          <a:xfrm>
            <a:off x="7442027" y="1676370"/>
            <a:ext cx="1549359" cy="952439"/>
          </a:xfrm>
          <a:prstGeom prst="roundRect">
            <a:avLst>
              <a:gd name="adj" fmla="val 21121"/>
            </a:avLst>
          </a:prstGeom>
          <a:solidFill>
            <a:schemeClr val="accent5"/>
          </a:solidFill>
          <a:ln w="12700">
            <a:solidFill>
              <a:schemeClr val="accent4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API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Python, aiohttp</a:t>
            </a:r>
            <a:endParaRPr lang="en-US" sz="1600" dirty="0"/>
          </a:p>
        </p:txBody>
      </p:sp>
      <p:sp>
        <p:nvSpPr>
          <p:cNvPr id="8" name="Узел: Сайт"/>
          <p:cNvSpPr txBox="1"/>
          <p:nvPr/>
        </p:nvSpPr>
        <p:spPr>
          <a:xfrm>
            <a:off x="9651766" y="1676370"/>
            <a:ext cx="1549359" cy="952439"/>
          </a:xfrm>
          <a:prstGeom prst="roundRect">
            <a:avLst>
              <a:gd name="adj" fmla="val 21121"/>
            </a:avLst>
          </a:prstGeom>
          <a:solidFill>
            <a:schemeClr val="accent5"/>
          </a:solidFill>
          <a:ln w="12700">
            <a:solidFill>
              <a:schemeClr val="accent4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Сайт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Vercel</a:t>
            </a:r>
            <a:endParaRPr lang="en-US" sz="1600" dirty="0"/>
          </a:p>
        </p:txBody>
      </p:sp>
      <p:sp>
        <p:nvSpPr>
          <p:cNvPr id="9" name="Стрелка 1"/>
          <p:cNvSpPr/>
          <p:nvPr/>
        </p:nvSpPr>
        <p:spPr>
          <a:xfrm>
            <a:off x="2514509" y="2063709"/>
            <a:ext cx="355610" cy="177759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0" name="Стрелка 2"/>
          <p:cNvSpPr/>
          <p:nvPr/>
        </p:nvSpPr>
        <p:spPr>
          <a:xfrm>
            <a:off x="4724248" y="2063709"/>
            <a:ext cx="355610" cy="177759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1" name="Стрелка 3"/>
          <p:cNvSpPr/>
          <p:nvPr/>
        </p:nvSpPr>
        <p:spPr>
          <a:xfrm>
            <a:off x="6933987" y="2063709"/>
            <a:ext cx="355610" cy="177759"/>
          </a:xfrm>
          <a:prstGeom prst="leftArrow">
            <a:avLst/>
          </a:prstGeom>
          <a:solidFill>
            <a:schemeClr val="accent1"/>
          </a:solidFill>
          <a:ln/>
        </p:spPr>
      </p:sp>
      <p:sp>
        <p:nvSpPr>
          <p:cNvPr id="12" name="Стрелка 4"/>
          <p:cNvSpPr/>
          <p:nvPr/>
        </p:nvSpPr>
        <p:spPr>
          <a:xfrm>
            <a:off x="9143817" y="2063709"/>
            <a:ext cx="355610" cy="177759"/>
          </a:xfrm>
          <a:prstGeom prst="leftArrow">
            <a:avLst/>
          </a:prstGeom>
          <a:solidFill>
            <a:schemeClr val="accent1"/>
          </a:solidFill>
          <a:ln/>
        </p:spPr>
      </p:sp>
      <p:sp>
        <p:nvSpPr>
          <p:cNvPr id="13" name="Факт: Бэкенд"/>
          <p:cNvSpPr txBox="1"/>
          <p:nvPr/>
        </p:nvSpPr>
        <p:spPr>
          <a:xfrm>
            <a:off x="812810" y="2933670"/>
            <a:ext cx="3352739" cy="2095439"/>
          </a:xfrm>
          <a:prstGeom prst="roundRect">
            <a:avLst>
              <a:gd name="adj" fmla="val 9600"/>
            </a:avLst>
          </a:prstGeom>
          <a:solidFill>
            <a:schemeClr val="accent5"/>
          </a:solidFill>
          <a:ln w="12700">
            <a:solidFill>
              <a:schemeClr val="accent4"/>
            </a:solidFill>
          </a:ln>
        </p:spPr>
        <p:txBody>
          <a:bodyPr wrap="square" lIns="304800" tIns="304800" rIns="304800" bIns="25400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chemeClr val="accent1"/>
                </a:solidFill>
              </a:rPr>
              <a:t>Бэкенд</a:t>
            </a:r>
            <a:endParaRPr lang="en-US" sz="22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Профили, жалобы, записи на ивенты и походы хранятся в базе данных</a:t>
            </a:r>
            <a:endParaRPr lang="en-US" sz="2200" dirty="0"/>
          </a:p>
        </p:txBody>
      </p:sp>
      <p:sp>
        <p:nvSpPr>
          <p:cNvPr id="14" name="Факт: Хостинг"/>
          <p:cNvSpPr txBox="1"/>
          <p:nvPr/>
        </p:nvSpPr>
        <p:spPr>
          <a:xfrm>
            <a:off x="4419478" y="2933670"/>
            <a:ext cx="3352739" cy="2095439"/>
          </a:xfrm>
          <a:prstGeom prst="roundRect">
            <a:avLst>
              <a:gd name="adj" fmla="val 9600"/>
            </a:avLst>
          </a:prstGeom>
          <a:solidFill>
            <a:schemeClr val="accent5"/>
          </a:solidFill>
          <a:ln w="12700">
            <a:solidFill>
              <a:schemeClr val="accent4"/>
            </a:solidFill>
          </a:ln>
        </p:spPr>
        <p:txBody>
          <a:bodyPr wrap="square" lIns="304800" tIns="304800" rIns="304800" bIns="25400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chemeClr val="accent1"/>
                </a:solidFill>
              </a:rPr>
              <a:t>Хостинг</a:t>
            </a:r>
            <a:endParaRPr lang="en-US" sz="22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Бот и API на Railway, сайт на Vercel. Работает без нашего ноутбука</a:t>
            </a:r>
            <a:endParaRPr lang="en-US" sz="2200" dirty="0"/>
          </a:p>
        </p:txBody>
      </p:sp>
      <p:sp>
        <p:nvSpPr>
          <p:cNvPr id="15" name="Факт: Тесты"/>
          <p:cNvSpPr txBox="1"/>
          <p:nvPr/>
        </p:nvSpPr>
        <p:spPr>
          <a:xfrm>
            <a:off x="8026237" y="2933670"/>
            <a:ext cx="3352739" cy="2095439"/>
          </a:xfrm>
          <a:prstGeom prst="roundRect">
            <a:avLst>
              <a:gd name="adj" fmla="val 9600"/>
            </a:avLst>
          </a:prstGeom>
          <a:solidFill>
            <a:schemeClr val="accent5"/>
          </a:solidFill>
          <a:ln w="12700">
            <a:solidFill>
              <a:schemeClr val="accent4"/>
            </a:solidFill>
          </a:ln>
        </p:spPr>
        <p:txBody>
          <a:bodyPr wrap="square" lIns="304800" tIns="304800" rIns="304800" bIns="25400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chemeClr val="accent1"/>
                </a:solidFill>
              </a:rPr>
              <a:t>Тесты</a:t>
            </a:r>
            <a:endParaRPr lang="en-US" sz="22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68 автотестов, в том числе запуск бота целиком против имитации Telegram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474007" y="6324448"/>
            <a:ext cx="190497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292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6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7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8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4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6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6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0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1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2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8" presetID="22" presetClass="entr" presetSubtype="8" fill="hold" grpId="0" nodeType="withEffect">
                                  <p:stCondLst>
                                    <p:cond delay="97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0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0" presetID="53" presetClass="entr" presetSubtype="16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4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5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6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2" presetID="22" presetClass="entr" presetSubtype="8" fill="hold" grpId="0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4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4" presetID="53" presetClass="entr" presetSubtype="16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8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9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0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6" presetID="22" presetClass="entr" presetSubtype="8" fill="hold" grpId="0" nodeType="withEffect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8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8" presetID="53" presetClass="entr" presetSubtype="16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2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3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4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0" presetID="42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8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9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2" presetID="42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0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1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4" presetID="42" presetClass="entr" presetSubtype="0" fill="hold" grpId="0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2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3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  <p:bldP spid="5" grpId="0" animBg="1"/>
      <p:bldP spid="10" grpId="0" animBg="1"/>
      <p:bldP spid="6" grpId="0" animBg="1"/>
      <p:bldP spid="11" grpId="0" animBg="1"/>
      <p:bldP spid="7" grpId="0" animBg="1"/>
      <p:bldP spid="12" grpId="0" animBg="1"/>
      <p:bldP spid="8" grpId="0" animBg="1"/>
      <p:bldP spid="13" grpId="0" animBg="1"/>
      <p:bldP spid="14" grpId="0" animBg="1"/>
      <p:bldP spid="1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12810" y="698510"/>
            <a:ext cx="10566166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Первый клиент</a:t>
            </a:r>
            <a:endParaRPr lang="en-US" sz="3600" dirty="0"/>
          </a:p>
        </p:txBody>
      </p:sp>
      <p:pic>
        <p:nvPicPr>
          <p:cNvPr id="4" name="Логотип клуба" descr="Логотип клуба Summit Seekers: заснеженная гора и красное яблоко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810" y="1650949"/>
            <a:ext cx="1143000" cy="1143000"/>
          </a:xfrm>
          <a:prstGeom prst="ellipse">
            <a:avLst/>
          </a:prstGeom>
        </p:spPr>
      </p:pic>
      <p:sp>
        <p:nvSpPr>
          <p:cNvPr id="5" name="Метка клиента"/>
          <p:cNvSpPr txBox="1"/>
          <p:nvPr/>
        </p:nvSpPr>
        <p:spPr>
          <a:xfrm>
            <a:off x="812810" y="2933670"/>
            <a:ext cx="2362170" cy="330190"/>
          </a:xfrm>
          <a:prstGeom prst="roundRect">
            <a:avLst>
              <a:gd name="adj" fmla="val 69233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Клиент и партнёр</a:t>
            </a:r>
            <a:endParaRPr lang="en-US" sz="1300" dirty="0"/>
          </a:p>
        </p:txBody>
      </p:sp>
      <p:sp>
        <p:nvSpPr>
          <p:cNvPr id="6" name="Название клуба"/>
          <p:cNvSpPr txBox="1"/>
          <p:nvPr/>
        </p:nvSpPr>
        <p:spPr>
          <a:xfrm>
            <a:off x="812810" y="3378159"/>
            <a:ext cx="3555919" cy="4063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Summit Seekers</a:t>
            </a:r>
            <a:endParaRPr lang="en-US" sz="2400" dirty="0"/>
          </a:p>
        </p:txBody>
      </p:sp>
      <p:sp>
        <p:nvSpPr>
          <p:cNvPr id="7" name="Сумма оплаты"/>
          <p:cNvSpPr txBox="1"/>
          <p:nvPr/>
        </p:nvSpPr>
        <p:spPr>
          <a:xfrm>
            <a:off x="812810" y="3847978"/>
            <a:ext cx="3555919" cy="634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20 000 ₸</a:t>
            </a:r>
            <a:endParaRPr lang="en-US" sz="4000" dirty="0"/>
          </a:p>
        </p:txBody>
      </p:sp>
      <p:sp>
        <p:nvSpPr>
          <p:cNvPr id="8" name="Подпись оплаты"/>
          <p:cNvSpPr txBox="1"/>
          <p:nvPr/>
        </p:nvSpPr>
        <p:spPr>
          <a:xfrm>
            <a:off x="812810" y="4546488"/>
            <a:ext cx="3555919" cy="533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первая оплата за подключение горного клуба AlmaU</a:t>
            </a:r>
            <a:endParaRPr lang="en-US" sz="1600" dirty="0"/>
          </a:p>
        </p:txBody>
      </p:sp>
      <p:sp>
        <p:nvSpPr>
          <p:cNvPr id="9" name="15 минут"/>
          <p:cNvSpPr txBox="1"/>
          <p:nvPr/>
        </p:nvSpPr>
        <p:spPr>
          <a:xfrm>
            <a:off x="812810" y="5117988"/>
            <a:ext cx="3555919" cy="533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От коммерческого предложения до оплаты: 15 минут</a:t>
            </a:r>
            <a:endParaRPr lang="en-US" sz="1600" dirty="0"/>
          </a:p>
        </p:txBody>
      </p:sp>
      <p:sp>
        <p:nvSpPr>
          <p:cNvPr id="10" name="Возможность: Запись и очередь"/>
          <p:cNvSpPr txBox="1"/>
          <p:nvPr/>
        </p:nvSpPr>
        <p:spPr>
          <a:xfrm>
            <a:off x="4749668" y="1676370"/>
            <a:ext cx="3225729" cy="1117580"/>
          </a:xfrm>
          <a:prstGeom prst="roundRect">
            <a:avLst>
              <a:gd name="adj" fmla="val 18000"/>
            </a:avLst>
          </a:prstGeom>
          <a:solidFill>
            <a:schemeClr val="accent3"/>
          </a:solidFill>
          <a:ln w="12700">
            <a:solidFill>
              <a:schemeClr val="accent4"/>
            </a:solidFill>
          </a:ln>
        </p:spPr>
        <p:txBody>
          <a:bodyPr wrap="square" lIns="584200" tIns="254000" rIns="177800" bIns="1778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Запись и очередь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Освободилось место, бот зовёт следующего</a:t>
            </a:r>
            <a:endParaRPr lang="en-US" sz="1600" dirty="0"/>
          </a:p>
        </p:txBody>
      </p:sp>
      <p:pic>
        <p:nvPicPr>
          <p:cNvPr id="11" name="Иконка: Запись и очередь" descr="Запись и очередь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7519" y="1854129"/>
            <a:ext cx="279349" cy="279349"/>
          </a:xfrm>
          <a:prstGeom prst="rect">
            <a:avLst/>
          </a:prstGeom>
        </p:spPr>
      </p:pic>
      <p:sp>
        <p:nvSpPr>
          <p:cNvPr id="12" name="Возможность: Напоминания"/>
          <p:cNvSpPr txBox="1"/>
          <p:nvPr/>
        </p:nvSpPr>
        <p:spPr>
          <a:xfrm>
            <a:off x="8153156" y="1676370"/>
            <a:ext cx="3225729" cy="1117580"/>
          </a:xfrm>
          <a:prstGeom prst="roundRect">
            <a:avLst>
              <a:gd name="adj" fmla="val 18000"/>
            </a:avLst>
          </a:prstGeom>
          <a:solidFill>
            <a:schemeClr val="accent3"/>
          </a:solidFill>
          <a:ln w="12700">
            <a:solidFill>
              <a:schemeClr val="accent4"/>
            </a:solidFill>
          </a:ln>
        </p:spPr>
        <p:txBody>
          <a:bodyPr wrap="square" lIns="584200" tIns="254000" rIns="177800" bIns="1778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Напоминания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За сутки и за 3 часа, с прогнозом погоды</a:t>
            </a:r>
            <a:endParaRPr lang="en-US" sz="1600" dirty="0"/>
          </a:p>
        </p:txBody>
      </p:sp>
      <p:pic>
        <p:nvPicPr>
          <p:cNvPr id="13" name="Иконка: Напоминания" descr="Напоминания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1007" y="1854129"/>
            <a:ext cx="279349" cy="279349"/>
          </a:xfrm>
          <a:prstGeom prst="rect">
            <a:avLst/>
          </a:prstGeom>
        </p:spPr>
      </p:pic>
      <p:sp>
        <p:nvSpPr>
          <p:cNvPr id="14" name="Возможность: Рассылки"/>
          <p:cNvSpPr txBox="1"/>
          <p:nvPr/>
        </p:nvSpPr>
        <p:spPr>
          <a:xfrm>
            <a:off x="4749668" y="2971709"/>
            <a:ext cx="3225729" cy="1117580"/>
          </a:xfrm>
          <a:prstGeom prst="roundRect">
            <a:avLst>
              <a:gd name="adj" fmla="val 18000"/>
            </a:avLst>
          </a:prstGeom>
          <a:solidFill>
            <a:schemeClr val="accent3"/>
          </a:solidFill>
          <a:ln w="12700">
            <a:solidFill>
              <a:schemeClr val="accent4"/>
            </a:solidFill>
          </a:ln>
        </p:spPr>
        <p:txBody>
          <a:bodyPr wrap="square" lIns="584200" tIns="254000" rIns="177800" bIns="1778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Рассылки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Организатор пишет всем записавшимся</a:t>
            </a:r>
            <a:endParaRPr lang="en-US" sz="1600" dirty="0"/>
          </a:p>
        </p:txBody>
      </p:sp>
      <p:pic>
        <p:nvPicPr>
          <p:cNvPr id="15" name="Иконка: Рассылки" descr="Рассылки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7519" y="3149559"/>
            <a:ext cx="279349" cy="279349"/>
          </a:xfrm>
          <a:prstGeom prst="rect">
            <a:avLst/>
          </a:prstGeom>
        </p:spPr>
      </p:pic>
      <p:sp>
        <p:nvSpPr>
          <p:cNvPr id="16" name="Возможность: «Спустился» и SOS"/>
          <p:cNvSpPr txBox="1"/>
          <p:nvPr/>
        </p:nvSpPr>
        <p:spPr>
          <a:xfrm>
            <a:off x="8153156" y="2971709"/>
            <a:ext cx="3225729" cy="1117580"/>
          </a:xfrm>
          <a:prstGeom prst="roundRect">
            <a:avLst>
              <a:gd name="adj" fmla="val 18000"/>
            </a:avLst>
          </a:prstGeom>
          <a:solidFill>
            <a:schemeClr val="accent3"/>
          </a:solidFill>
          <a:ln w="12700">
            <a:solidFill>
              <a:schemeClr val="accent4"/>
            </a:solidFill>
          </a:ln>
        </p:spPr>
        <p:txBody>
          <a:bodyPr wrap="square" lIns="584200" tIns="254000" rIns="177800" bIns="1778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«Спустился» и SOS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Видно, кто не отметился после похода</a:t>
            </a:r>
            <a:endParaRPr lang="en-US" sz="1600" dirty="0"/>
          </a:p>
        </p:txBody>
      </p:sp>
      <p:pic>
        <p:nvPicPr>
          <p:cNvPr id="17" name="Иконка: «Спустился» и SOS" descr="«Спустился» и SO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1007" y="3149559"/>
            <a:ext cx="279349" cy="279349"/>
          </a:xfrm>
          <a:prstGeom prst="rect">
            <a:avLst/>
          </a:prstGeom>
        </p:spPr>
      </p:pic>
      <p:sp>
        <p:nvSpPr>
          <p:cNvPr id="18" name="Возможность: Отчёт"/>
          <p:cNvSpPr txBox="1"/>
          <p:nvPr/>
        </p:nvSpPr>
        <p:spPr>
          <a:xfrm>
            <a:off x="4749668" y="4267048"/>
            <a:ext cx="3225729" cy="1117580"/>
          </a:xfrm>
          <a:prstGeom prst="roundRect">
            <a:avLst>
              <a:gd name="adj" fmla="val 18000"/>
            </a:avLst>
          </a:prstGeom>
          <a:solidFill>
            <a:schemeClr val="accent3"/>
          </a:solidFill>
          <a:ln w="12700">
            <a:solidFill>
              <a:schemeClr val="accent4"/>
            </a:solidFill>
          </a:ln>
        </p:spPr>
        <p:txBody>
          <a:bodyPr wrap="square" lIns="584200" tIns="254000" rIns="177800" bIns="1778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Отчёт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Откуда приходят люди и сколько записалось</a:t>
            </a:r>
            <a:endParaRPr lang="en-US" sz="1600" dirty="0"/>
          </a:p>
        </p:txBody>
      </p:sp>
      <p:pic>
        <p:nvPicPr>
          <p:cNvPr id="19" name="Иконка: Отчёт" descr="Отчёт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7519" y="4444898"/>
            <a:ext cx="279349" cy="279349"/>
          </a:xfrm>
          <a:prstGeom prst="rect">
            <a:avLst/>
          </a:prstGeom>
        </p:spPr>
      </p:pic>
      <p:sp>
        <p:nvSpPr>
          <p:cNvPr id="20" name="Возможность: Школа туризма"/>
          <p:cNvSpPr txBox="1"/>
          <p:nvPr/>
        </p:nvSpPr>
        <p:spPr>
          <a:xfrm>
            <a:off x="8153156" y="4267048"/>
            <a:ext cx="3225729" cy="1117580"/>
          </a:xfrm>
          <a:prstGeom prst="roundRect">
            <a:avLst>
              <a:gd name="adj" fmla="val 18000"/>
            </a:avLst>
          </a:prstGeom>
          <a:solidFill>
            <a:schemeClr val="accent3"/>
          </a:solidFill>
          <a:ln w="12700">
            <a:solidFill>
              <a:schemeClr val="accent4"/>
            </a:solidFill>
          </a:ln>
        </p:spPr>
        <p:txBody>
          <a:bodyPr wrap="square" lIns="584200" tIns="254000" rIns="177800" bIns="1778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Школа туризма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Мини-уроки и список «что взять» в боте</a:t>
            </a:r>
            <a:endParaRPr lang="en-US" sz="1600" dirty="0"/>
          </a:p>
        </p:txBody>
      </p:sp>
      <p:pic>
        <p:nvPicPr>
          <p:cNvPr id="21" name="Иконка: Школа туризма" descr="Школа туризма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1007" y="4444898"/>
            <a:ext cx="279349" cy="27934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474007" y="6324448"/>
            <a:ext cx="190497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436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0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1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2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8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0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8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2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0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1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4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4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6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4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4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5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8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5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6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7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0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4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5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6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2" presetID="42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5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0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1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4" presetID="42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5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2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3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6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6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8" presetID="42" presetClass="entr" presetSubtype="0" fill="hold" grpId="0" nodeType="withEffect">
                                  <p:stCondLst>
                                    <p:cond delay="1590"/>
                                  </p:stCondLst>
                                  <p:childTnLst>
                                    <p:set>
                                      <p:cBhvr>
                                        <p:cTn id="5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6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7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0" presetID="42" presetClass="entr" presetSubtype="0" fill="hold" grpId="0" nodeType="withEffect">
                                  <p:stCondLst>
                                    <p:cond delay="1590"/>
                                  </p:stCondLst>
                                  <p:childTnLst>
                                    <p:set>
                                      <p:cBhvr>
                                        <p:cTn id="5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8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9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2" presetID="10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5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2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4" presetID="42" presetClass="entr" presetSubtype="0" fill="hold" grpId="0" nodeType="withEffect">
                                  <p:stCondLst>
                                    <p:cond delay="1920"/>
                                  </p:stCondLst>
                                  <p:childTnLst>
                                    <p:set>
                                      <p:cBhvr>
                                        <p:cTn id="6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2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3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6" presetID="42" presetClass="entr" presetSubtype="0" fill="hold" grpId="0" nodeType="withEffect">
                                  <p:stCondLst>
                                    <p:cond delay="1920"/>
                                  </p:stCondLst>
                                  <p:childTnLst>
                                    <p:set>
                                      <p:cBhvr>
                                        <p:cTn id="6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4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5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8" presetID="42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6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6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7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0" presetID="42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6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8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9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6" grpId="0" animBg="1"/>
      <p:bldP spid="12" grpId="0" animBg="1"/>
      <p:bldP spid="7" grpId="0" animBg="1"/>
      <p:bldP spid="14" grpId="0" animBg="1"/>
      <p:bldP spid="8" grpId="0" animBg="1"/>
      <p:bldP spid="16" grpId="0" animBg="1"/>
      <p:bldP spid="9" grpId="0" animBg="1"/>
      <p:bldP spid="18" grpId="0" animBg="1"/>
      <p:bldP spid="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12810" y="698510"/>
            <a:ext cx="10566166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Модель и первые шаги</a:t>
            </a:r>
            <a:endParaRPr lang="en-US" sz="3600" dirty="0"/>
          </a:p>
        </p:txBody>
      </p:sp>
      <p:sp>
        <p:nvSpPr>
          <p:cNvPr id="4" name="Кто платит"/>
          <p:cNvSpPr txBox="1"/>
          <p:nvPr/>
        </p:nvSpPr>
        <p:spPr>
          <a:xfrm>
            <a:off x="812810" y="1676370"/>
            <a:ext cx="4825837" cy="3428909"/>
          </a:xfrm>
          <a:prstGeom prst="roundRect">
            <a:avLst>
              <a:gd name="adj" fmla="val 5867"/>
            </a:avLst>
          </a:prstGeom>
          <a:solidFill>
            <a:schemeClr val="accent5"/>
          </a:solidFill>
          <a:ln w="12700">
            <a:solidFill>
              <a:schemeClr val="accent4"/>
            </a:solidFill>
          </a:ln>
        </p:spPr>
        <p:txBody>
          <a:bodyPr wrap="square" lIns="330200" tIns="355600" rIns="330200" bIns="254000" rtlCol="0" anchor="t"/>
          <a:lstStyle/>
          <a:p>
            <a:pPr indent="0" marL="0">
              <a:spcAft>
                <a:spcPts val="1800"/>
              </a:spcAft>
              <a:buNone/>
            </a:pPr>
            <a:r>
              <a:rPr lang="en-US" sz="1300" b="1" spc="300" kern="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КТО ПЛАТИТ</a:t>
            </a:r>
            <a:endParaRPr lang="en-US" sz="13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Студентам бесплатно. Платят клубы</a:t>
            </a:r>
            <a:endParaRPr lang="en-US" sz="13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Клубы платят за инструменты: запись, напоминания, безопасность и отчёт. Больше людей на мероприятиях и меньше ручной работы у организаторов.</a:t>
            </a:r>
            <a:endParaRPr lang="en-US" sz="1300" dirty="0"/>
          </a:p>
        </p:txBody>
      </p:sp>
      <p:sp>
        <p:nvSpPr>
          <p:cNvPr id="5" name="Первая оплата"/>
          <p:cNvSpPr txBox="1"/>
          <p:nvPr/>
        </p:nvSpPr>
        <p:spPr>
          <a:xfrm>
            <a:off x="6019678" y="1676370"/>
            <a:ext cx="5359298" cy="1904970"/>
          </a:xfrm>
          <a:prstGeom prst="roundRect">
            <a:avLst>
              <a:gd name="adj" fmla="val 10560"/>
            </a:avLst>
          </a:prstGeom>
          <a:solidFill>
            <a:schemeClr val="accent1"/>
          </a:solidFill>
          <a:ln/>
        </p:spPr>
        <p:txBody>
          <a:bodyPr wrap="square" lIns="304800" tIns="228600" rIns="304800" bIns="1778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4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20 000 ₸</a:t>
            </a:r>
            <a:endParaRPr lang="en-US" sz="48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первая оплата от клуба-партнёра Summit Seekers</a:t>
            </a:r>
            <a:endParaRPr lang="en-US" sz="4800" dirty="0"/>
          </a:p>
        </p:txBody>
      </p:sp>
      <p:sp>
        <p:nvSpPr>
          <p:cNvPr id="6" name="Клубов: 10"/>
          <p:cNvSpPr txBox="1"/>
          <p:nvPr/>
        </p:nvSpPr>
        <p:spPr>
          <a:xfrm>
            <a:off x="6019678" y="3759098"/>
            <a:ext cx="2590770" cy="1473190"/>
          </a:xfrm>
          <a:prstGeom prst="roundRect">
            <a:avLst>
              <a:gd name="adj" fmla="val 13655"/>
            </a:avLst>
          </a:prstGeom>
          <a:solidFill>
            <a:schemeClr val="accent5"/>
          </a:solidFill>
          <a:ln w="12700">
            <a:solidFill>
              <a:schemeClr val="accent4"/>
            </a:solidFill>
          </a:ln>
        </p:spPr>
        <p:txBody>
          <a:bodyPr wrap="square" lIns="254000" tIns="254000" rIns="254000" bIns="1778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10</a:t>
            </a:r>
            <a:endParaRPr lang="en-US" sz="3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клубов AlmaU в каталоге</a:t>
            </a:r>
            <a:endParaRPr lang="en-US" sz="3600" dirty="0"/>
          </a:p>
        </p:txBody>
      </p:sp>
      <p:sp>
        <p:nvSpPr>
          <p:cNvPr id="7" name="Студентов: N"/>
          <p:cNvSpPr txBox="1"/>
          <p:nvPr/>
        </p:nvSpPr>
        <p:spPr>
          <a:xfrm>
            <a:off x="8788207" y="3759098"/>
            <a:ext cx="2590770" cy="1473190"/>
          </a:xfrm>
          <a:prstGeom prst="roundRect">
            <a:avLst>
              <a:gd name="adj" fmla="val 13655"/>
            </a:avLst>
          </a:prstGeom>
          <a:solidFill>
            <a:schemeClr val="accent5"/>
          </a:solidFill>
          <a:ln w="12700">
            <a:solidFill>
              <a:schemeClr val="accent4"/>
            </a:solidFill>
          </a:ln>
        </p:spPr>
        <p:txBody>
          <a:bodyPr wrap="square" lIns="254000" tIns="254000" rIns="254000" bIns="1778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[N]</a:t>
            </a:r>
            <a:endParaRPr lang="en-US" sz="3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студентов уже в боте</a:t>
            </a: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474007" y="6324448"/>
            <a:ext cx="190497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652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6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4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4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8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6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4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5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8" presetID="42" presetClass="entr" presetSubtype="0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6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6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12810" y="698510"/>
            <a:ext cx="10566166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Команда</a:t>
            </a:r>
            <a:endParaRPr lang="en-US" sz="3600" dirty="0"/>
          </a:p>
        </p:txBody>
      </p:sp>
      <p:sp>
        <p:nvSpPr>
          <p:cNvPr id="4" name="Карточка: Дияр"/>
          <p:cNvSpPr txBox="1"/>
          <p:nvPr/>
        </p:nvSpPr>
        <p:spPr>
          <a:xfrm>
            <a:off x="812810" y="1676370"/>
            <a:ext cx="3352739" cy="3301898"/>
          </a:xfrm>
          <a:prstGeom prst="roundRect">
            <a:avLst>
              <a:gd name="adj" fmla="val 6092"/>
            </a:avLst>
          </a:prstGeom>
          <a:solidFill>
            <a:schemeClr val="accent3"/>
          </a:solidFill>
          <a:ln w="12700">
            <a:solidFill>
              <a:schemeClr val="accent4"/>
            </a:solidFill>
          </a:ln>
        </p:spPr>
        <p:txBody>
          <a:bodyPr wrap="square" lIns="279400" tIns="1358900" rIns="279400" bIns="22860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chemeClr val="bg1"/>
                </a:solidFill>
              </a:rPr>
              <a:t>Дияр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Ядро бота</a:t>
            </a:r>
            <a:endParaRPr lang="en-US" sz="22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Анонимный чат, подбор по интересам, запуск бота</a:t>
            </a:r>
            <a:endParaRPr lang="en-US" sz="2200" dirty="0"/>
          </a:p>
        </p:txBody>
      </p:sp>
      <p:sp>
        <p:nvSpPr>
          <p:cNvPr id="5" name="Инициал: Дияр"/>
          <p:cNvSpPr txBox="1"/>
          <p:nvPr/>
        </p:nvSpPr>
        <p:spPr>
          <a:xfrm>
            <a:off x="1092159" y="1955719"/>
            <a:ext cx="761970" cy="76197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Д</a:t>
            </a:r>
            <a:endParaRPr lang="en-US" sz="3600" dirty="0"/>
          </a:p>
        </p:txBody>
      </p:sp>
      <p:sp>
        <p:nvSpPr>
          <p:cNvPr id="6" name="Карточка: Абулхаир"/>
          <p:cNvSpPr txBox="1"/>
          <p:nvPr/>
        </p:nvSpPr>
        <p:spPr>
          <a:xfrm>
            <a:off x="4419478" y="1676370"/>
            <a:ext cx="3352739" cy="3301898"/>
          </a:xfrm>
          <a:prstGeom prst="roundRect">
            <a:avLst>
              <a:gd name="adj" fmla="val 6092"/>
            </a:avLst>
          </a:prstGeom>
          <a:solidFill>
            <a:schemeClr val="accent3"/>
          </a:solidFill>
          <a:ln w="12700">
            <a:solidFill>
              <a:schemeClr val="accent4"/>
            </a:solidFill>
          </a:ln>
        </p:spPr>
        <p:txBody>
          <a:bodyPr wrap="square" lIns="279400" tIns="1358900" rIns="279400" bIns="22860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chemeClr val="bg1"/>
                </a:solidFill>
              </a:rPr>
              <a:t>Абулхаир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Бэкенд и данные</a:t>
            </a:r>
            <a:endParaRPr lang="en-US" sz="22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База данных, профили, модерация: жалобы и автоблокировка</a:t>
            </a:r>
            <a:endParaRPr lang="en-US" sz="2200" dirty="0"/>
          </a:p>
        </p:txBody>
      </p:sp>
      <p:sp>
        <p:nvSpPr>
          <p:cNvPr id="7" name="Инициал: Абулхаир"/>
          <p:cNvSpPr txBox="1"/>
          <p:nvPr/>
        </p:nvSpPr>
        <p:spPr>
          <a:xfrm>
            <a:off x="4698919" y="1955719"/>
            <a:ext cx="761970" cy="76197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А</a:t>
            </a:r>
            <a:endParaRPr lang="en-US" sz="3600" dirty="0"/>
          </a:p>
        </p:txBody>
      </p:sp>
      <p:sp>
        <p:nvSpPr>
          <p:cNvPr id="8" name="Карточка: Хамид"/>
          <p:cNvSpPr txBox="1"/>
          <p:nvPr/>
        </p:nvSpPr>
        <p:spPr>
          <a:xfrm>
            <a:off x="8026237" y="1676370"/>
            <a:ext cx="3352739" cy="3301898"/>
          </a:xfrm>
          <a:prstGeom prst="roundRect">
            <a:avLst>
              <a:gd name="adj" fmla="val 6092"/>
            </a:avLst>
          </a:prstGeom>
          <a:solidFill>
            <a:schemeClr val="accent3"/>
          </a:solidFill>
          <a:ln w="12700">
            <a:solidFill>
              <a:schemeClr val="accent4"/>
            </a:solidFill>
          </a:ln>
        </p:spPr>
        <p:txBody>
          <a:bodyPr wrap="square" lIns="279400" tIns="1358900" rIns="279400" bIns="22860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chemeClr val="bg1"/>
                </a:solidFill>
              </a:rPr>
              <a:t>Хамид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Ивенты, клубы, сайт</a:t>
            </a:r>
            <a:endParaRPr lang="en-US" sz="22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Компания на ивент, страница клуба, сайт</a:t>
            </a:r>
            <a:endParaRPr lang="en-US" sz="2200" dirty="0"/>
          </a:p>
        </p:txBody>
      </p:sp>
      <p:sp>
        <p:nvSpPr>
          <p:cNvPr id="9" name="Инициал: Хамид"/>
          <p:cNvSpPr txBox="1"/>
          <p:nvPr/>
        </p:nvSpPr>
        <p:spPr>
          <a:xfrm>
            <a:off x="8305587" y="1955719"/>
            <a:ext cx="761970" cy="76197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Х</a:t>
            </a: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474007" y="6324448"/>
            <a:ext cx="190497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00" presetID="42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6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8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9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2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7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8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4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2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3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6" presetID="53" presetClass="entr" presetSubtype="16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7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0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1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2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8" presetID="42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7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6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0" presetID="53" presetClass="entr" presetSubtype="16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4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5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6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12810" y="698510"/>
            <a:ext cx="10566166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Что дальше</a:t>
            </a:r>
            <a:endParaRPr lang="en-US" sz="3600" dirty="0"/>
          </a:p>
        </p:txBody>
      </p:sp>
      <p:sp>
        <p:nvSpPr>
          <p:cNvPr id="4" name="Этап: СЕЙЧАС"/>
          <p:cNvSpPr/>
          <p:nvPr/>
        </p:nvSpPr>
        <p:spPr>
          <a:xfrm>
            <a:off x="812810" y="1676370"/>
            <a:ext cx="6603797" cy="609630"/>
          </a:xfrm>
          <a:prstGeom prst="roundRect">
            <a:avLst>
              <a:gd name="adj" fmla="val 26999"/>
            </a:avLst>
          </a:prstGeom>
          <a:solidFill>
            <a:schemeClr val="tx1">
              <a:alpha val="8000"/>
            </a:schemeClr>
          </a:solidFill>
          <a:ln/>
        </p:spPr>
      </p:sp>
      <p:sp>
        <p:nvSpPr>
          <p:cNvPr id="5" name="Метка: СЕЙЧАС"/>
          <p:cNvSpPr txBox="1"/>
          <p:nvPr/>
        </p:nvSpPr>
        <p:spPr>
          <a:xfrm>
            <a:off x="1015990" y="1676370"/>
            <a:ext cx="1396929" cy="609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СЕЙЧАС</a:t>
            </a:r>
            <a:endParaRPr lang="en-US" sz="1300" dirty="0"/>
          </a:p>
        </p:txBody>
      </p:sp>
      <p:sp>
        <p:nvSpPr>
          <p:cNvPr id="6" name="Текст: СЕЙЧАС"/>
          <p:cNvSpPr txBox="1"/>
          <p:nvPr/>
        </p:nvSpPr>
        <p:spPr>
          <a:xfrm>
            <a:off x="2412919" y="1676370"/>
            <a:ext cx="4889388" cy="609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AlmaU и первый клиент Summit Seekers</a:t>
            </a:r>
            <a:endParaRPr lang="en-US" sz="1600" dirty="0"/>
          </a:p>
        </p:txBody>
      </p:sp>
      <p:sp>
        <p:nvSpPr>
          <p:cNvPr id="7" name="Этап: ДАЛЬШЕ"/>
          <p:cNvSpPr/>
          <p:nvPr/>
        </p:nvSpPr>
        <p:spPr>
          <a:xfrm>
            <a:off x="812810" y="2412919"/>
            <a:ext cx="6603797" cy="609630"/>
          </a:xfrm>
          <a:prstGeom prst="roundRect">
            <a:avLst>
              <a:gd name="adj" fmla="val 26999"/>
            </a:avLst>
          </a:prstGeom>
          <a:solidFill>
            <a:schemeClr val="tx1">
              <a:alpha val="8000"/>
            </a:schemeClr>
          </a:solidFill>
          <a:ln/>
        </p:spPr>
      </p:sp>
      <p:sp>
        <p:nvSpPr>
          <p:cNvPr id="8" name="Метка: ДАЛЬШЕ"/>
          <p:cNvSpPr txBox="1"/>
          <p:nvPr/>
        </p:nvSpPr>
        <p:spPr>
          <a:xfrm>
            <a:off x="1015990" y="2412919"/>
            <a:ext cx="1396929" cy="609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ДАЛЬШЕ</a:t>
            </a:r>
            <a:endParaRPr lang="en-US" sz="1300" dirty="0"/>
          </a:p>
        </p:txBody>
      </p:sp>
      <p:sp>
        <p:nvSpPr>
          <p:cNvPr id="9" name="Текст: ДАЛЬШЕ"/>
          <p:cNvSpPr txBox="1"/>
          <p:nvPr/>
        </p:nvSpPr>
        <p:spPr>
          <a:xfrm>
            <a:off x="2412919" y="2412919"/>
            <a:ext cx="4889388" cy="609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Другие клубы и вузы Алматы</a:t>
            </a:r>
            <a:endParaRPr lang="en-US" sz="1600" dirty="0"/>
          </a:p>
        </p:txBody>
      </p:sp>
      <p:sp>
        <p:nvSpPr>
          <p:cNvPr id="10" name="Этап: ПОТОМ"/>
          <p:cNvSpPr/>
          <p:nvPr/>
        </p:nvSpPr>
        <p:spPr>
          <a:xfrm>
            <a:off x="812810" y="3149559"/>
            <a:ext cx="6603797" cy="609630"/>
          </a:xfrm>
          <a:prstGeom prst="roundRect">
            <a:avLst>
              <a:gd name="adj" fmla="val 26999"/>
            </a:avLst>
          </a:prstGeom>
          <a:solidFill>
            <a:schemeClr val="tx1">
              <a:alpha val="8000"/>
            </a:schemeClr>
          </a:solidFill>
          <a:ln/>
        </p:spPr>
      </p:sp>
      <p:sp>
        <p:nvSpPr>
          <p:cNvPr id="11" name="Метка: ПОТОМ"/>
          <p:cNvSpPr txBox="1"/>
          <p:nvPr/>
        </p:nvSpPr>
        <p:spPr>
          <a:xfrm>
            <a:off x="1015990" y="3149559"/>
            <a:ext cx="1396929" cy="609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ПОТОМ</a:t>
            </a:r>
            <a:endParaRPr lang="en-US" sz="1300" dirty="0"/>
          </a:p>
        </p:txBody>
      </p:sp>
      <p:sp>
        <p:nvSpPr>
          <p:cNvPr id="12" name="Текст: ПОТОМ"/>
          <p:cNvSpPr txBox="1"/>
          <p:nvPr/>
        </p:nvSpPr>
        <p:spPr>
          <a:xfrm>
            <a:off x="2412919" y="3149559"/>
            <a:ext cx="4889388" cy="609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Подписка для клубов и оплата в боте</a:t>
            </a:r>
            <a:endParaRPr lang="en-US" sz="1600" dirty="0"/>
          </a:p>
        </p:txBody>
      </p:sp>
      <p:sp>
        <p:nvSpPr>
          <p:cNvPr id="13" name="Что нам нужно"/>
          <p:cNvSpPr txBox="1"/>
          <p:nvPr/>
        </p:nvSpPr>
        <p:spPr>
          <a:xfrm>
            <a:off x="812810" y="4063868"/>
            <a:ext cx="6603797" cy="952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Ищем инвестиции [сумма] и пилоты в других вузах</a:t>
            </a:r>
            <a:endParaRPr lang="en-US" sz="2400" dirty="0"/>
          </a:p>
        </p:txBody>
      </p:sp>
      <p:sp>
        <p:nvSpPr>
          <p:cNvPr id="14" name="Карточка QR"/>
          <p:cNvSpPr/>
          <p:nvPr/>
        </p:nvSpPr>
        <p:spPr>
          <a:xfrm>
            <a:off x="7822966" y="1676370"/>
            <a:ext cx="3555919" cy="3809939"/>
          </a:xfrm>
          <a:prstGeom prst="roundRect">
            <a:avLst>
              <a:gd name="adj" fmla="val 7714"/>
            </a:avLst>
          </a:prstGeom>
          <a:solidFill>
            <a:schemeClr val="bg1"/>
          </a:solidFill>
          <a:ln/>
        </p:spPr>
      </p:sp>
      <p:pic>
        <p:nvPicPr>
          <p:cNvPr id="15" name="QR-код" descr="QR-код для открытия бота в Tele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85027" y="1904970"/>
            <a:ext cx="2031980" cy="2031980"/>
          </a:xfrm>
          <a:prstGeom prst="rect">
            <a:avLst/>
          </a:prstGeom>
        </p:spPr>
      </p:pic>
      <p:sp>
        <p:nvSpPr>
          <p:cNvPr id="16" name="Подпись QR"/>
          <p:cNvSpPr txBox="1"/>
          <p:nvPr/>
        </p:nvSpPr>
        <p:spPr>
          <a:xfrm>
            <a:off x="7949976" y="4127419"/>
            <a:ext cx="330189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Попробуйте сами: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u="sng" dirty="0">
                <a:solidFill>
                  <a:schemeClr val="tx1"/>
                </a:solidFill>
                <a:hlinkClick r:id="rId2" invalidUrl="" action="" tgtFrame="" tooltip="Открыть бота в Telegram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t.me/Almau_mes_bot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474007" y="6324448"/>
            <a:ext cx="190497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72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4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4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6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6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8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8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0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0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2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2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4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4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8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8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9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0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6" presetID="53" presetClass="entr" presetSubtype="16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0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1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2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8" presetID="22" presetClass="entr" presetSubtype="8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8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0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0" presetID="22" presetClass="entr" presetSubtype="8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8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2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2" presetID="22" presetClass="entr" presetSubtype="8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8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4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4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8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4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6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9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4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5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4" grpId="0" animBg="1"/>
      <p:bldP spid="10" grpId="0" animBg="1"/>
      <p:bldP spid="11" grpId="0" animBg="1"/>
      <p:bldP spid="12" grpId="0" animBg="1"/>
      <p:bldP spid="16" grpId="0" animBg="1"/>
      <p:bldP spid="13" grpId="0" animBg="1"/>
    </p:bldLst>
  </p:timing>
</p:sld>
</file>

<file path=ppt/theme/theme1.xml><?xml version="1.0" encoding="utf-8"?>
<a:theme xmlns:a="http://schemas.openxmlformats.org/drawingml/2006/main" name="Almau Messenger">
  <a:themeElements>
    <a:clrScheme name="Almau Messenger">
      <a:dk1>
        <a:srgbClr val="050507"/>
      </a:dk1>
      <a:lt1>
        <a:srgbClr val="F2F2F5"/>
      </a:lt1>
      <a:dk2>
        <a:srgbClr val="0E0E14"/>
      </a:dk2>
      <a:lt2>
        <a:srgbClr val="A3A3B2"/>
      </a:lt2>
      <a:accent1>
        <a:srgbClr val="D4FF3A"/>
      </a:accent1>
      <a:accent2>
        <a:srgbClr val="7B5CFF"/>
      </a:accent2>
      <a:accent3>
        <a:srgbClr val="121217"/>
      </a:accent3>
      <a:accent4>
        <a:srgbClr val="26262E"/>
      </a:accent4>
      <a:accent5>
        <a:srgbClr val="16161E"/>
      </a:accent5>
      <a:accent6>
        <a:srgbClr val="C9C9D4"/>
      </a:accent6>
      <a:hlink>
        <a:srgbClr val="D4FF3A"/>
      </a:hlink>
      <a:folHlink>
        <a:srgbClr val="A3A3B2"/>
      </a:folHlink>
    </a:clrScheme>
    <a:fontScheme name="Almau Messenger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Almau Messenger — питч для инвесторов</dc:title>
  <dc:subject>PptxGenJS Presentation</dc:subject>
  <dc:creator>Дияр, Абулхаир, Хамид</dc:creator>
  <cp:lastModifiedBy>Дияр, Абулхаир, Хамид</cp:lastModifiedBy>
  <cp:revision>1</cp:revision>
  <dcterms:created xsi:type="dcterms:W3CDTF">2026-10-13T03:25:31Z</dcterms:created>
  <dcterms:modified xsi:type="dcterms:W3CDTF">2026-10-13T03:25:31Z</dcterms:modified>
</cp:coreProperties>
</file>